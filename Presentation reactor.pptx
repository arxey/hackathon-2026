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6"/>
  </p:notesMasterIdLst>
  <p:sldIdLst>
    <p:sldId id="256" r:id="rId2"/>
    <p:sldId id="264" r:id="rId3"/>
    <p:sldId id="265" r:id="rId4"/>
    <p:sldId id="26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83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0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8D938D-F5D8-4DBA-BEB9-776A00BC4B6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DB2643-D3E0-43B5-BECA-6D63682ABE0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2376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1205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8811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349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1236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271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148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0269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867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3636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4092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429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C43A2F-1D63-4A4A-A64E-DB14DB0E0F92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0EE8F0-76AE-401D-91B5-DD3FF173C2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13550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2.xml"/><Relationship Id="rId3" Type="http://schemas.openxmlformats.org/officeDocument/2006/relationships/slide" Target="slide10.xml"/><Relationship Id="rId7" Type="http://schemas.openxmlformats.org/officeDocument/2006/relationships/slide" Target="slide9.xm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11.xml"/><Relationship Id="rId4" Type="http://schemas.openxmlformats.org/officeDocument/2006/relationships/slide" Target="slide13.xml"/><Relationship Id="rId9" Type="http://schemas.openxmlformats.org/officeDocument/2006/relationships/slide" Target="slide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59722"/>
            <a:ext cx="9144000" cy="1888256"/>
          </a:xfrm>
        </p:spPr>
        <p:txBody>
          <a:bodyPr/>
          <a:lstStyle/>
          <a:p>
            <a:r>
              <a:rPr lang="ru-RU" dirty="0" smtClean="0">
                <a:solidFill>
                  <a:schemeClr val="accent4"/>
                </a:solidFill>
                <a:latin typeface="Comic Sans MS" panose="030F0702030302020204" pitchFamily="66" charset="0"/>
              </a:rPr>
              <a:t>Система управления ядерным реактором</a:t>
            </a:r>
            <a:endParaRPr lang="ru-RU" dirty="0">
              <a:solidFill>
                <a:schemeClr val="accent4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315864" y="5149971"/>
            <a:ext cx="3413184" cy="1030855"/>
          </a:xfrm>
          <a:solidFill>
            <a:schemeClr val="tx1"/>
          </a:solidFill>
        </p:spPr>
        <p:txBody>
          <a:bodyPr>
            <a:normAutofit fontScale="92500"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Оператор ядерного реактора</a:t>
            </a:r>
            <a:r>
              <a:rPr lang="en-US" dirty="0">
                <a:solidFill>
                  <a:schemeClr val="bg1"/>
                </a:solidFill>
                <a:latin typeface="Comic Sans MS" panose="030F0702030302020204" pitchFamily="66" charset="0"/>
              </a:rPr>
              <a:t>:</a:t>
            </a:r>
            <a:br>
              <a:rPr lang="en-US" dirty="0">
                <a:solidFill>
                  <a:schemeClr val="bg1"/>
                </a:solidFill>
                <a:latin typeface="Comic Sans MS" panose="030F0702030302020204" pitchFamily="66" charset="0"/>
              </a:rPr>
            </a:br>
            <a:r>
              <a:rPr lang="ru-RU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Команда «</a:t>
            </a:r>
            <a:r>
              <a:rPr lang="en-US" dirty="0" err="1" smtClean="0">
                <a:solidFill>
                  <a:schemeClr val="bg1"/>
                </a:solidFill>
                <a:latin typeface="Comic Sans MS" panose="030F0702030302020204" pitchFamily="66" charset="0"/>
              </a:rPr>
              <a:t>sh</a:t>
            </a:r>
            <a:r>
              <a:rPr lang="ru-RU" dirty="0" err="1" smtClean="0">
                <a:solidFill>
                  <a:schemeClr val="bg1"/>
                </a:solidFill>
                <a:latin typeface="Comic Sans MS" panose="030F0702030302020204" pitchFamily="66" charset="0"/>
              </a:rPr>
              <a:t>КОДники</a:t>
            </a:r>
            <a:r>
              <a:rPr lang="ru-RU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»</a:t>
            </a:r>
          </a:p>
        </p:txBody>
      </p:sp>
      <p:sp>
        <p:nvSpPr>
          <p:cNvPr id="5" name="Управляющая кнопка: далее 4">
            <a:hlinkClick r:id="" action="ppaction://hlinkshowjump?jump=nextslide" highlightClick="1"/>
          </p:cNvPr>
          <p:cNvSpPr/>
          <p:nvPr/>
        </p:nvSpPr>
        <p:spPr>
          <a:xfrm>
            <a:off x="11440887" y="6270171"/>
            <a:ext cx="751114" cy="587829"/>
          </a:xfrm>
          <a:prstGeom prst="actionButtonForwardNex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517210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База на Луне. Сейчас или никогда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080" y="352697"/>
            <a:ext cx="4846320" cy="3357154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scene3d>
            <a:camera prst="isometricOffAxis2Left"/>
            <a:lightRig rig="threePt" dir="t"/>
          </a:scene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Обитаемая база на Марсе к 2023 году - Звёздная Миссия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03" y="91440"/>
            <a:ext cx="7524206" cy="6533104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Звёздный корабль «Фьюри» вращается вокруг Юпитера: стоковая иллюстрация,  2645281059 | Shutterstock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00"/>
          <a:stretch/>
        </p:blipFill>
        <p:spPr bwMode="auto">
          <a:xfrm>
            <a:off x="7624726" y="3866606"/>
            <a:ext cx="4723657" cy="2757938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scene3d>
            <a:camera prst="isometricOffAxis2Left"/>
            <a:lightRig rig="threePt" dir="t"/>
          </a:scene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322591" y="352697"/>
            <a:ext cx="2969250" cy="14773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latin typeface="Comic Sans MS" panose="030F0702030302020204" pitchFamily="66" charset="0"/>
              </a:rPr>
              <a:t>2157 год. Человечество колонизировало Марс</a:t>
            </a:r>
            <a:r>
              <a:rPr lang="en-US" dirty="0" smtClean="0">
                <a:latin typeface="Comic Sans MS" panose="030F0702030302020204" pitchFamily="66" charset="0"/>
              </a:rPr>
              <a:t>, </a:t>
            </a:r>
            <a:r>
              <a:rPr lang="ru-RU" dirty="0" smtClean="0">
                <a:latin typeface="Comic Sans MS" panose="030F0702030302020204" pitchFamily="66" charset="0"/>
              </a:rPr>
              <a:t>построило базы на луне и готовится к полету к спутникам Юпитера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6" name="Управляющая кнопка: далее 5">
            <a:hlinkClick r:id="" action="ppaction://hlinkshowjump?jump=nextslide" highlightClick="1"/>
          </p:cNvPr>
          <p:cNvSpPr/>
          <p:nvPr/>
        </p:nvSpPr>
        <p:spPr>
          <a:xfrm>
            <a:off x="11440887" y="6270171"/>
            <a:ext cx="751114" cy="587829"/>
          </a:xfrm>
          <a:prstGeom prst="actionButtonForwardNex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Управляющая кнопка: назад 1">
            <a:hlinkClick r:id="" action="ppaction://hlinkshowjump?jump=previousslide" highlightClick="1"/>
          </p:cNvPr>
          <p:cNvSpPr/>
          <p:nvPr/>
        </p:nvSpPr>
        <p:spPr>
          <a:xfrm>
            <a:off x="10644863" y="6270171"/>
            <a:ext cx="796024" cy="587829"/>
          </a:xfrm>
          <a:prstGeom prst="actionButtonBackPreviou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93911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Компактный ядерный реактор для космических колоний | Пикабу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450" y="142919"/>
            <a:ext cx="6119282" cy="4076384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Rolls-Royce разрабатывает компактный ядерный реактор для космических  исследований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3797" y="116793"/>
            <a:ext cx="5627575" cy="3775166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В России создан компактный автономный ядерный реактор для применения в  экстремальных условиях Арктики | ТЕХНОЛОГИИ, ИНЖИНИРИНГ, ИННОВАЦИ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8183" y="4071357"/>
            <a:ext cx="5373189" cy="2603763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88547" y="4794008"/>
            <a:ext cx="5801087" cy="92333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latin typeface="Comic Sans MS" panose="030F0702030302020204" pitchFamily="66" charset="0"/>
              </a:rPr>
              <a:t>Все это стало возможным благодаря ядерным реакторам нового поколения – компактным, мощным, но очень капризным.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7" name="Управляющая кнопка: далее 6">
            <a:hlinkClick r:id="" action="ppaction://hlinkshowjump?jump=nextslide" highlightClick="1"/>
          </p:cNvPr>
          <p:cNvSpPr/>
          <p:nvPr/>
        </p:nvSpPr>
        <p:spPr>
          <a:xfrm>
            <a:off x="11440887" y="6270171"/>
            <a:ext cx="751114" cy="587829"/>
          </a:xfrm>
          <a:prstGeom prst="actionButtonForwardNex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Управляющая кнопка: назад 7">
            <a:hlinkClick r:id="" action="ppaction://hlinkshowjump?jump=previousslide" highlightClick="1"/>
          </p:cNvPr>
          <p:cNvSpPr/>
          <p:nvPr/>
        </p:nvSpPr>
        <p:spPr>
          <a:xfrm>
            <a:off x="10644863" y="6270171"/>
            <a:ext cx="796024" cy="587829"/>
          </a:xfrm>
          <a:prstGeom prst="actionButtonBackPreviou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002416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4" presetClass="entr" presetSubtype="1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39042"/>
            <a:ext cx="5159828" cy="5159828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6858000" y="5346841"/>
            <a:ext cx="5159828" cy="92333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ru-RU" dirty="0" smtClean="0">
                <a:latin typeface="Comic Sans MS" panose="030F0702030302020204" pitchFamily="66" charset="0"/>
              </a:rPr>
              <a:t>Лунная база «Новый мир» – дом для колонистов. Вся их инфраструктура напрямую зависит от ядерного реактора</a:t>
            </a:r>
            <a:endParaRPr lang="ru-RU" dirty="0">
              <a:latin typeface="Comic Sans MS" panose="030F0702030302020204" pitchFamily="66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79" y="139042"/>
            <a:ext cx="6607629" cy="3572869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79" y="3941682"/>
            <a:ext cx="6607629" cy="2714376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Овальная выноска 1"/>
          <p:cNvSpPr/>
          <p:nvPr/>
        </p:nvSpPr>
        <p:spPr>
          <a:xfrm>
            <a:off x="5003321" y="1682151"/>
            <a:ext cx="1052421" cy="629900"/>
          </a:xfrm>
          <a:prstGeom prst="wedgeEllipseCallou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Это наш новый дом</a:t>
            </a:r>
            <a:r>
              <a:rPr lang="en-US" sz="1100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!!</a:t>
            </a:r>
            <a:endParaRPr lang="ru-RU" sz="1100" dirty="0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sp>
        <p:nvSpPr>
          <p:cNvPr id="9" name="Управляющая кнопка: далее 8">
            <a:hlinkClick r:id="" action="ppaction://hlinkshowjump?jump=nextslide" highlightClick="1"/>
          </p:cNvPr>
          <p:cNvSpPr/>
          <p:nvPr/>
        </p:nvSpPr>
        <p:spPr>
          <a:xfrm>
            <a:off x="11440887" y="6270171"/>
            <a:ext cx="751114" cy="587829"/>
          </a:xfrm>
          <a:prstGeom prst="actionButtonForwardNex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Управляющая кнопка: назад 9">
            <a:hlinkClick r:id="" action="ppaction://hlinkshowjump?jump=previousslide" highlightClick="1"/>
          </p:cNvPr>
          <p:cNvSpPr/>
          <p:nvPr/>
        </p:nvSpPr>
        <p:spPr>
          <a:xfrm>
            <a:off x="10644863" y="6270171"/>
            <a:ext cx="796024" cy="587829"/>
          </a:xfrm>
          <a:prstGeom prst="actionButtonBackPreviou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6675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4" presetClass="entr" presetSubtype="1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4" presetClass="entr" presetSubtype="1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92" y="130566"/>
            <a:ext cx="5682342" cy="6426927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381545" y="5760659"/>
            <a:ext cx="5206635" cy="64633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latin typeface="Comic Sans MS" panose="030F0702030302020204" pitchFamily="66" charset="0"/>
              </a:rPr>
              <a:t>Три дня назад система автоматики дала сбой. Реактор вошел в нестабильный режим.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8" name="Пятно 2 7"/>
          <p:cNvSpPr/>
          <p:nvPr/>
        </p:nvSpPr>
        <p:spPr>
          <a:xfrm rot="20341904">
            <a:off x="3625035" y="579440"/>
            <a:ext cx="2258603" cy="1410150"/>
          </a:xfrm>
          <a:prstGeom prst="irregularSeal2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 smtClean="0"/>
          </a:p>
          <a:p>
            <a:pPr algn="ctr"/>
            <a:r>
              <a:rPr lang="ru-RU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*</a:t>
            </a:r>
            <a:r>
              <a:rPr lang="ru-RU" dirty="0" err="1" smtClean="0">
                <a:solidFill>
                  <a:schemeClr val="bg1"/>
                </a:solidFill>
                <a:latin typeface="Comic Sans MS" panose="030F0702030302020204" pitchFamily="66" charset="0"/>
              </a:rPr>
              <a:t>пип</a:t>
            </a:r>
            <a:r>
              <a:rPr lang="ru-RU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*</a:t>
            </a:r>
            <a:r>
              <a:rPr lang="ru-RU" dirty="0" err="1" smtClean="0">
                <a:solidFill>
                  <a:schemeClr val="bg1"/>
                </a:solidFill>
                <a:latin typeface="Comic Sans MS" panose="030F0702030302020204" pitchFamily="66" charset="0"/>
              </a:rPr>
              <a:t>пип</a:t>
            </a:r>
            <a:r>
              <a:rPr lang="ru-RU" dirty="0" smtClean="0">
                <a:solidFill>
                  <a:schemeClr val="bg1"/>
                </a:solidFill>
                <a:latin typeface="Comic Sans MS" panose="030F0702030302020204" pitchFamily="66" charset="0"/>
              </a:rPr>
              <a:t>*</a:t>
            </a:r>
            <a:endParaRPr lang="ru-RU" dirty="0">
              <a:solidFill>
                <a:schemeClr val="bg1"/>
              </a:solidFill>
              <a:latin typeface="Comic Sans MS" panose="030F0702030302020204" pitchFamily="66" charset="0"/>
            </a:endParaRPr>
          </a:p>
          <a:p>
            <a:pPr algn="ctr"/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1166" y="130565"/>
            <a:ext cx="5963224" cy="6426927"/>
          </a:xfrm>
          <a:prstGeom prst="rect">
            <a:avLst/>
          </a:prstGeom>
          <a:ln w="38100" cap="sq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7295636" y="248075"/>
            <a:ext cx="4441371" cy="92333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ru-RU" dirty="0" smtClean="0">
                <a:latin typeface="Comic Sans MS" panose="030F0702030302020204" pitchFamily="66" charset="0"/>
              </a:rPr>
              <a:t>Местный инженер-ядерщик сломал ногу и не может добраться до пульта управления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10" name="Управляющая кнопка: далее 9">
            <a:hlinkClick r:id="" action="ppaction://hlinkshowjump?jump=nextslide" highlightClick="1"/>
          </p:cNvPr>
          <p:cNvSpPr/>
          <p:nvPr/>
        </p:nvSpPr>
        <p:spPr>
          <a:xfrm>
            <a:off x="11440887" y="6270171"/>
            <a:ext cx="751114" cy="587829"/>
          </a:xfrm>
          <a:prstGeom prst="actionButtonForwardNex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Управляющая кнопка: назад 10">
            <a:hlinkClick r:id="" action="ppaction://hlinkshowjump?jump=previousslide" highlightClick="1"/>
          </p:cNvPr>
          <p:cNvSpPr/>
          <p:nvPr/>
        </p:nvSpPr>
        <p:spPr>
          <a:xfrm>
            <a:off x="10644863" y="6270171"/>
            <a:ext cx="796024" cy="587829"/>
          </a:xfrm>
          <a:prstGeom prst="actionButtonBackPreviou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1675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4" presetClass="entr" presetSubtype="1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500"/>
                            </p:stCondLst>
                            <p:childTnLst>
                              <p:par>
                                <p:cTn id="23" presetID="14" presetClass="entr" presetSubtype="1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71430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93170" y="248075"/>
            <a:ext cx="3843837" cy="64633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ru-RU" dirty="0" smtClean="0">
                <a:latin typeface="Comic Sans MS" panose="030F0702030302020204" pitchFamily="66" charset="0"/>
              </a:rPr>
              <a:t>Теперь база данных управляется удаленно…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5" name="Управляющая кнопка: далее 4">
            <a:hlinkClick r:id="" action="ppaction://hlinkshowjump?jump=nextslide" highlightClick="1"/>
          </p:cNvPr>
          <p:cNvSpPr/>
          <p:nvPr/>
        </p:nvSpPr>
        <p:spPr>
          <a:xfrm>
            <a:off x="11440887" y="6270171"/>
            <a:ext cx="751114" cy="587829"/>
          </a:xfrm>
          <a:prstGeom prst="actionButtonForwardNex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Управляющая кнопка: назад 5">
            <a:hlinkClick r:id="" action="ppaction://hlinkshowjump?jump=previousslide" highlightClick="1"/>
          </p:cNvPr>
          <p:cNvSpPr/>
          <p:nvPr/>
        </p:nvSpPr>
        <p:spPr>
          <a:xfrm>
            <a:off x="10644863" y="6270171"/>
            <a:ext cx="796024" cy="587829"/>
          </a:xfrm>
          <a:prstGeom prst="actionButtonBackPreviou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79395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82442" cy="6858000"/>
          </a:xfrm>
          <a:prstGeom prst="rect">
            <a:avLst/>
          </a:prstGeom>
        </p:spPr>
      </p:pic>
      <p:sp>
        <p:nvSpPr>
          <p:cNvPr id="2" name="Выноска 1 1"/>
          <p:cNvSpPr/>
          <p:nvPr/>
        </p:nvSpPr>
        <p:spPr>
          <a:xfrm>
            <a:off x="9497683" y="836762"/>
            <a:ext cx="1863306" cy="612648"/>
          </a:xfrm>
          <a:prstGeom prst="borderCallout1">
            <a:avLst/>
          </a:prstGeom>
          <a:solidFill>
            <a:schemeClr val="accent6">
              <a:lumMod val="50000"/>
            </a:schemeClr>
          </a:solidFill>
          <a:ln w="381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n w="76200">
                  <a:noFill/>
                </a:ln>
                <a:solidFill>
                  <a:schemeClr val="bg1"/>
                </a:solidFill>
                <a:latin typeface="Bahnschrift Condensed" panose="020B0502040204020203" pitchFamily="34" charset="0"/>
                <a:hlinkClick r:id="rId3" action="ppaction://hlinksldjump"/>
              </a:rPr>
              <a:t>Долив воды</a:t>
            </a:r>
            <a:endParaRPr lang="ru-RU" dirty="0">
              <a:ln w="76200">
                <a:noFill/>
              </a:ln>
              <a:noFill/>
              <a:latin typeface="Bahnschrift Condensed" panose="020B0502040204020203" pitchFamily="34" charset="0"/>
            </a:endParaRPr>
          </a:p>
        </p:txBody>
      </p:sp>
      <p:sp>
        <p:nvSpPr>
          <p:cNvPr id="5" name="Выноска 1 4"/>
          <p:cNvSpPr/>
          <p:nvPr/>
        </p:nvSpPr>
        <p:spPr>
          <a:xfrm>
            <a:off x="9497683" y="2286172"/>
            <a:ext cx="1863306" cy="612648"/>
          </a:xfrm>
          <a:prstGeom prst="borderCallout1">
            <a:avLst/>
          </a:prstGeom>
          <a:solidFill>
            <a:schemeClr val="accent6">
              <a:lumMod val="50000"/>
            </a:schemeClr>
          </a:solidFill>
          <a:ln w="381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n w="76200">
                  <a:noFill/>
                </a:ln>
                <a:solidFill>
                  <a:schemeClr val="bg1"/>
                </a:solidFill>
                <a:latin typeface="Bahnschrift Condensed" panose="020B0502040204020203" pitchFamily="34" charset="0"/>
                <a:hlinkClick r:id="rId4" action="ppaction://hlinksldjump"/>
              </a:rPr>
              <a:t>Охлаждение реактора</a:t>
            </a:r>
            <a:endParaRPr lang="ru-RU" dirty="0">
              <a:ln w="76200">
                <a:noFill/>
              </a:ln>
              <a:noFill/>
              <a:latin typeface="Bahnschrift Condensed" panose="020B0502040204020203" pitchFamily="34" charset="0"/>
            </a:endParaRPr>
          </a:p>
        </p:txBody>
      </p:sp>
      <p:sp>
        <p:nvSpPr>
          <p:cNvPr id="7" name="Выноска 1 6"/>
          <p:cNvSpPr/>
          <p:nvPr/>
        </p:nvSpPr>
        <p:spPr>
          <a:xfrm>
            <a:off x="803694" y="836762"/>
            <a:ext cx="1863306" cy="612648"/>
          </a:xfrm>
          <a:prstGeom prst="borderCallout1">
            <a:avLst>
              <a:gd name="adj1" fmla="val 58175"/>
              <a:gd name="adj2" fmla="val 102778"/>
              <a:gd name="adj3" fmla="val 15344"/>
              <a:gd name="adj4" fmla="val 244537"/>
            </a:avLst>
          </a:prstGeom>
          <a:solidFill>
            <a:schemeClr val="accent6">
              <a:lumMod val="50000"/>
            </a:schemeClr>
          </a:solidFill>
          <a:ln w="381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n w="76200">
                  <a:noFill/>
                </a:ln>
                <a:solidFill>
                  <a:schemeClr val="bg1"/>
                </a:solidFill>
                <a:latin typeface="Bahnschrift Condensed" panose="020B0502040204020203" pitchFamily="34" charset="0"/>
                <a:hlinkClick r:id="rId5" action="ppaction://hlinksldjump"/>
              </a:rPr>
              <a:t>История действий</a:t>
            </a:r>
            <a:endParaRPr lang="ru-RU" dirty="0">
              <a:ln w="76200">
                <a:noFill/>
              </a:ln>
              <a:noFill/>
              <a:latin typeface="Bahnschrift Condensed" panose="020B0502040204020203" pitchFamily="34" charset="0"/>
            </a:endParaRPr>
          </a:p>
        </p:txBody>
      </p:sp>
      <p:sp>
        <p:nvSpPr>
          <p:cNvPr id="8" name="Выноска 1 7"/>
          <p:cNvSpPr/>
          <p:nvPr/>
        </p:nvSpPr>
        <p:spPr>
          <a:xfrm>
            <a:off x="803694" y="5464574"/>
            <a:ext cx="1863306" cy="612648"/>
          </a:xfrm>
          <a:prstGeom prst="borderCallout1">
            <a:avLst>
              <a:gd name="adj1" fmla="val 58175"/>
              <a:gd name="adj2" fmla="val 102778"/>
              <a:gd name="adj3" fmla="val 20976"/>
              <a:gd name="adj4" fmla="val 273240"/>
            </a:avLst>
          </a:prstGeom>
          <a:solidFill>
            <a:schemeClr val="accent6">
              <a:lumMod val="50000"/>
            </a:schemeClr>
          </a:solidFill>
          <a:ln w="381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n w="76200">
                  <a:noFill/>
                </a:ln>
                <a:solidFill>
                  <a:schemeClr val="bg1"/>
                </a:solidFill>
                <a:latin typeface="Bahnschrift Condensed" panose="020B0502040204020203" pitchFamily="34" charset="0"/>
                <a:hlinkClick r:id="rId6" action="ppaction://hlinksldjump"/>
              </a:rPr>
              <a:t>Аварийная остановка</a:t>
            </a:r>
            <a:endParaRPr lang="ru-RU" dirty="0">
              <a:ln w="76200">
                <a:noFill/>
              </a:ln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9" name="Выноска 1 8"/>
          <p:cNvSpPr/>
          <p:nvPr/>
        </p:nvSpPr>
        <p:spPr>
          <a:xfrm>
            <a:off x="803694" y="2286172"/>
            <a:ext cx="1863306" cy="612648"/>
          </a:xfrm>
          <a:prstGeom prst="borderCallout1">
            <a:avLst>
              <a:gd name="adj1" fmla="val 58175"/>
              <a:gd name="adj2" fmla="val 102778"/>
              <a:gd name="adj3" fmla="val 102643"/>
              <a:gd name="adj4" fmla="val 269999"/>
            </a:avLst>
          </a:prstGeom>
          <a:solidFill>
            <a:schemeClr val="accent6">
              <a:lumMod val="50000"/>
            </a:schemeClr>
          </a:solidFill>
          <a:ln w="381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n w="76200">
                  <a:noFill/>
                </a:ln>
                <a:solidFill>
                  <a:schemeClr val="bg1"/>
                </a:solidFill>
                <a:latin typeface="Bahnschrift Condensed" panose="020B0502040204020203" pitchFamily="34" charset="0"/>
                <a:hlinkClick r:id="rId7" action="ppaction://hlinksldjump"/>
              </a:rPr>
              <a:t>Получить данные о реакторе</a:t>
            </a:r>
            <a:endParaRPr lang="ru-RU" dirty="0">
              <a:ln w="76200">
                <a:noFill/>
              </a:ln>
              <a:noFill/>
              <a:latin typeface="Bahnschrift Condensed" panose="020B0502040204020203" pitchFamily="34" charset="0"/>
            </a:endParaRPr>
          </a:p>
        </p:txBody>
      </p:sp>
      <p:sp>
        <p:nvSpPr>
          <p:cNvPr id="10" name="Выноска 1 9"/>
          <p:cNvSpPr/>
          <p:nvPr/>
        </p:nvSpPr>
        <p:spPr>
          <a:xfrm>
            <a:off x="803694" y="4028535"/>
            <a:ext cx="1863306" cy="612648"/>
          </a:xfrm>
          <a:prstGeom prst="borderCallout1">
            <a:avLst>
              <a:gd name="adj1" fmla="val 58175"/>
              <a:gd name="adj2" fmla="val 102778"/>
              <a:gd name="adj3" fmla="val 81522"/>
              <a:gd name="adj4" fmla="val 144536"/>
            </a:avLst>
          </a:prstGeom>
          <a:solidFill>
            <a:schemeClr val="accent6">
              <a:lumMod val="50000"/>
            </a:schemeClr>
          </a:solidFill>
          <a:ln w="381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n w="76200">
                  <a:noFill/>
                </a:ln>
                <a:solidFill>
                  <a:schemeClr val="bg1"/>
                </a:solidFill>
                <a:latin typeface="Bahnschrift Condensed" panose="020B0502040204020203" pitchFamily="34" charset="0"/>
                <a:hlinkClick r:id="rId8" action="ppaction://hlinksldjump"/>
              </a:rPr>
              <a:t>Зарегистрировать команду</a:t>
            </a:r>
            <a:endParaRPr lang="ru-RU" dirty="0">
              <a:ln w="76200">
                <a:noFill/>
              </a:ln>
              <a:noFill/>
              <a:latin typeface="Bahnschrift Condensed" panose="020B050204020402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61855" y="2494524"/>
            <a:ext cx="124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noFill/>
              </a:rPr>
              <a:t>ББББББББББББББББ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1544" y="4028535"/>
            <a:ext cx="8817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noFill/>
              </a:rPr>
              <a:t>ВВВВВВВВВВВВВВВ</a:t>
            </a:r>
            <a:endParaRPr lang="ru-RU" dirty="0">
              <a:noFill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246914" y="609600"/>
            <a:ext cx="1785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noFill/>
              </a:rPr>
              <a:t>АААААААААААААААААААААААА</a:t>
            </a:r>
            <a:endParaRPr lang="ru-RU" dirty="0">
              <a:noFill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31715" y="5153892"/>
            <a:ext cx="13530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noFill/>
              </a:rPr>
              <a:t>ГГГГГГГГГГГГГГГГГГГГГГГГГГГГГГГГГ</a:t>
            </a:r>
            <a:endParaRPr lang="ru-RU" dirty="0">
              <a:noFill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106508" y="2459205"/>
            <a:ext cx="12924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noFill/>
              </a:rPr>
              <a:t>ДДДДДДДДДДДДДДДДДДДДД</a:t>
            </a:r>
            <a:endParaRPr lang="ru-RU" dirty="0">
              <a:noFill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06508" y="1107830"/>
            <a:ext cx="11957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noFill/>
              </a:rPr>
              <a:t>ЕЕЕЕЕЕЕЕЕЕЕЕЕЕЕЕЕЕЕЕЕЕЕЕЕЕЕ</a:t>
            </a:r>
            <a:endParaRPr lang="ru-RU" dirty="0">
              <a:noFill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38393" y="4106008"/>
            <a:ext cx="923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noFill/>
              </a:rPr>
              <a:t>ЖЖЖЖЖЖЖЖЖЖЖЖ</a:t>
            </a:r>
            <a:endParaRPr lang="ru-RU" dirty="0">
              <a:noFill/>
            </a:endParaRPr>
          </a:p>
        </p:txBody>
      </p:sp>
      <p:sp>
        <p:nvSpPr>
          <p:cNvPr id="16" name="Выноска 1 15"/>
          <p:cNvSpPr/>
          <p:nvPr/>
        </p:nvSpPr>
        <p:spPr>
          <a:xfrm>
            <a:off x="9523563" y="4261349"/>
            <a:ext cx="1863306" cy="612648"/>
          </a:xfrm>
          <a:prstGeom prst="borderCallout1">
            <a:avLst>
              <a:gd name="adj1" fmla="val 48129"/>
              <a:gd name="adj2" fmla="val -1033"/>
              <a:gd name="adj3" fmla="val 32565"/>
              <a:gd name="adj4" fmla="val -43301"/>
            </a:avLst>
          </a:prstGeom>
          <a:solidFill>
            <a:schemeClr val="accent6">
              <a:lumMod val="50000"/>
            </a:schemeClr>
          </a:solidFill>
          <a:ln w="381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ln w="76200">
                  <a:noFill/>
                </a:ln>
                <a:solidFill>
                  <a:schemeClr val="bg1"/>
                </a:solidFill>
                <a:latin typeface="Bahnschrift Condensed" panose="020B0502040204020203" pitchFamily="34" charset="0"/>
                <a:hlinkClick r:id="rId9" action="ppaction://hlinksldjump"/>
              </a:rPr>
              <a:t>Сброс реактора</a:t>
            </a:r>
            <a:endParaRPr lang="ru-RU" dirty="0">
              <a:ln w="76200">
                <a:noFill/>
              </a:ln>
              <a:noFill/>
              <a:latin typeface="Bahnschrift Condensed" panose="020B0502040204020203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827278" y="4541520"/>
            <a:ext cx="250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77373" y="2223164"/>
            <a:ext cx="250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049491" y="1143086"/>
            <a:ext cx="250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007802" y="2385301"/>
            <a:ext cx="250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928909" y="467430"/>
            <a:ext cx="250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71458" y="5246225"/>
            <a:ext cx="250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9490" y="4028535"/>
            <a:ext cx="250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60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7" grpId="0" animBg="1"/>
      <p:bldP spid="8" grpId="0" animBg="1"/>
      <p:bldP spid="9" grpId="0" animBg="1"/>
      <p:bldP spid="10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>
                <a:solidFill>
                  <a:schemeClr val="accent6">
                    <a:lumMod val="75000"/>
                  </a:schemeClr>
                </a:solidFill>
              </a:rPr>
              <a:t>Аварийная остановка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452" y="1690688"/>
            <a:ext cx="8211292" cy="38572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32325" y="6282346"/>
            <a:ext cx="234754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hlinkClick r:id="rId3" action="ppaction://hlinksldjump"/>
              </a:rPr>
              <a:t>Вернуться к реактору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605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701"/>
                            </p:stCondLst>
                            <p:childTnLst>
                              <p:par>
                                <p:cTn id="8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201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pPr algn="ctr"/>
            <a:r>
              <a:rPr lang="ru-RU" dirty="0" smtClean="0">
                <a:solidFill>
                  <a:schemeClr val="accent6">
                    <a:lumMod val="75000"/>
                  </a:schemeClr>
                </a:solidFill>
              </a:rPr>
              <a:t>Информация о реакторе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22"/>
          <a:stretch/>
        </p:blipFill>
        <p:spPr>
          <a:xfrm>
            <a:off x="3826125" y="1538521"/>
            <a:ext cx="4192461" cy="46073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32325" y="6282346"/>
            <a:ext cx="234754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hlinkClick r:id="rId3" action="ppaction://hlinksldjump"/>
              </a:rPr>
              <a:t>Вернуться к реактору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229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01"/>
                            </p:stCondLst>
                            <p:childTnLst>
                              <p:par>
                                <p:cTn id="8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301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pPr algn="ctr"/>
            <a:r>
              <a:rPr lang="ru-RU" dirty="0" smtClean="0">
                <a:solidFill>
                  <a:schemeClr val="accent6">
                    <a:lumMod val="75000"/>
                  </a:schemeClr>
                </a:solidFill>
              </a:rPr>
              <a:t>Долив воды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14" b="1365"/>
          <a:stretch/>
        </p:blipFill>
        <p:spPr>
          <a:xfrm>
            <a:off x="4124453" y="1406770"/>
            <a:ext cx="3943094" cy="48359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32325" y="6282346"/>
            <a:ext cx="234754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hlinkClick r:id="rId3" action="ppaction://hlinksldjump"/>
              </a:rPr>
              <a:t>Вернуться к реактору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6029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1"/>
                            </p:stCondLst>
                            <p:childTnLst>
                              <p:par>
                                <p:cTn id="8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1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41644"/>
          </a:xfrm>
        </p:spPr>
        <p:txBody>
          <a:bodyPr/>
          <a:lstStyle/>
          <a:p>
            <a:pPr algn="ctr"/>
            <a:r>
              <a:rPr lang="ru-RU" dirty="0" smtClean="0">
                <a:solidFill>
                  <a:schemeClr val="accent6">
                    <a:lumMod val="75000"/>
                  </a:schemeClr>
                </a:solidFill>
              </a:rPr>
              <a:t>История действий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4666" y="1406770"/>
            <a:ext cx="4002667" cy="45495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32325" y="6282346"/>
            <a:ext cx="234754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hlinkClick r:id="rId3" action="ppaction://hlinksldjump"/>
              </a:rPr>
              <a:t>Вернуться к реактору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092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01"/>
                            </p:stCondLst>
                            <p:childTnLst>
                              <p:par>
                                <p:cTn id="8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901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dirty="0" smtClean="0">
                <a:solidFill>
                  <a:schemeClr val="accent6">
                    <a:lumMod val="75000"/>
                  </a:schemeClr>
                </a:solidFill>
              </a:rPr>
              <a:t>Регистрация команды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556" y="1690688"/>
            <a:ext cx="3122887" cy="2575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32325" y="6282346"/>
            <a:ext cx="234754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hlinkClick r:id="rId3" action="ppaction://hlinksldjump"/>
              </a:rPr>
              <a:t>Вернуться к реактору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393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7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701"/>
                            </p:stCondLst>
                            <p:childTnLst>
                              <p:par>
                                <p:cTn id="1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dirty="0" smtClean="0">
                <a:solidFill>
                  <a:schemeClr val="accent6">
                    <a:lumMod val="75000"/>
                  </a:schemeClr>
                </a:solidFill>
              </a:rPr>
              <a:t>Охлаждение реактора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19"/>
          <a:stretch/>
        </p:blipFill>
        <p:spPr>
          <a:xfrm>
            <a:off x="337334" y="2321170"/>
            <a:ext cx="11517332" cy="5002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32325" y="6282346"/>
            <a:ext cx="234754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hlinkClick r:id="rId3" action="ppaction://hlinksldjump"/>
              </a:rPr>
              <a:t>Вернуться к реактору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286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7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701"/>
                            </p:stCondLst>
                            <p:childTnLst>
                              <p:par>
                                <p:cTn id="1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dirty="0" smtClean="0">
                <a:solidFill>
                  <a:schemeClr val="accent6">
                    <a:lumMod val="75000"/>
                  </a:schemeClr>
                </a:solidFill>
              </a:rPr>
              <a:t>Сброс реактора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32325" y="6282346"/>
            <a:ext cx="234754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hlinkClick r:id="rId2" action="ppaction://hlinksldjump"/>
              </a:rPr>
              <a:t>Вернуться к реактору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4113" y="1690688"/>
            <a:ext cx="3543968" cy="431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00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01"/>
                            </p:stCondLst>
                            <p:childTnLst>
                              <p:par>
                                <p:cTn id="1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Другая 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92D050"/>
      </a:hlink>
      <a:folHlink>
        <a:srgbClr val="92D050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377</TotalTime>
  <Words>168</Words>
  <Application>Microsoft Office PowerPoint</Application>
  <PresentationFormat>Широкоэкранный</PresentationFormat>
  <Paragraphs>46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Bahnschrift Condensed</vt:lpstr>
      <vt:lpstr>Calibri</vt:lpstr>
      <vt:lpstr>Calibri Light</vt:lpstr>
      <vt:lpstr>Comic Sans MS</vt:lpstr>
      <vt:lpstr>Office Theme</vt:lpstr>
      <vt:lpstr>Система управления ядерным реактором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Аварийная остановка</vt:lpstr>
      <vt:lpstr>Информация о реакторе</vt:lpstr>
      <vt:lpstr>Долив воды</vt:lpstr>
      <vt:lpstr>История действий</vt:lpstr>
      <vt:lpstr>Регистрация команды</vt:lpstr>
      <vt:lpstr>Охлаждение реактора</vt:lpstr>
      <vt:lpstr>Сброс реактора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IT-STUDENT</dc:creator>
  <cp:lastModifiedBy>IT-STUDENT</cp:lastModifiedBy>
  <cp:revision>32</cp:revision>
  <dcterms:created xsi:type="dcterms:W3CDTF">2026-04-22T08:53:22Z</dcterms:created>
  <dcterms:modified xsi:type="dcterms:W3CDTF">2026-04-24T07:40:51Z</dcterms:modified>
</cp:coreProperties>
</file>